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25"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78" d="100"/>
          <a:sy n="78" d="100"/>
        </p:scale>
        <p:origin x="1018"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244056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327672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430891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0CB7D7-B4BA-4989-8BB6-81FA204948AB}"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1" name="Slide Number Placeholder 5"/>
          <p:cNvSpPr>
            <a:spLocks noGrp="1"/>
          </p:cNvSpPr>
          <p:nvPr>
            <p:ph type="sldNum" sz="quarter" idx="12"/>
          </p:nvPr>
        </p:nvSpPr>
        <p:spPr>
          <a:xfrm>
            <a:off x="531812" y="787782"/>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609288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0CB7D7-B4BA-4989-8BB6-81FA204948AB}" type="datetimeFigureOut">
              <a:rPr lang="en-IN" smtClean="0"/>
              <a:t>14-11-2025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245335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0CB7D7-B4BA-4989-8BB6-81FA204948AB}" type="datetimeFigureOut">
              <a:rPr lang="en-IN" smtClean="0"/>
              <a:t>14-11-2025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2857438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0CB7D7-B4BA-4989-8BB6-81FA204948AB}" type="datetimeFigureOut">
              <a:rPr lang="en-IN" smtClean="0"/>
              <a:t>14-11-2025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2215121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0CB7D7-B4BA-4989-8BB6-81FA204948AB}"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48180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0CB7D7-B4BA-4989-8BB6-81FA204948AB}"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3017538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2211485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AEDD9206-C379-49F1-9461-0A00166AF0A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2341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A0CB7D7-B4BA-4989-8BB6-81FA204948AB}"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39369187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A0CB7D7-B4BA-4989-8BB6-81FA204948AB}"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AEDD9206-C379-49F1-9461-0A00166AF0A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3461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A0CB7D7-B4BA-4989-8BB6-81FA204948AB}"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323355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26480344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0CB7D7-B4BA-4989-8BB6-81FA204948AB}"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AEDD9206-C379-49F1-9461-0A00166AF0A3}" type="slidenum">
              <a:rPr lang="en-IN" smtClean="0"/>
              <a:t>‹#›</a:t>
            </a:fld>
            <a:endParaRPr lang="en-IN"/>
          </a:p>
        </p:txBody>
      </p:sp>
    </p:spTree>
    <p:extLst>
      <p:ext uri="{BB962C8B-B14F-4D97-AF65-F5344CB8AC3E}">
        <p14:creationId xmlns:p14="http://schemas.microsoft.com/office/powerpoint/2010/main" val="1340573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A0CB7D7-B4BA-4989-8BB6-81FA204948AB}" type="datetimeFigureOut">
              <a:rPr lang="en-IN" smtClean="0"/>
              <a:t>14-11-2025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EDD9206-C379-49F1-9461-0A00166AF0A3}" type="slidenum">
              <a:rPr lang="en-IN" smtClean="0"/>
              <a:t>‹#›</a:t>
            </a:fld>
            <a:endParaRPr lang="en-IN"/>
          </a:p>
        </p:txBody>
      </p:sp>
    </p:spTree>
    <p:extLst>
      <p:ext uri="{BB962C8B-B14F-4D97-AF65-F5344CB8AC3E}">
        <p14:creationId xmlns:p14="http://schemas.microsoft.com/office/powerpoint/2010/main" val="629835381"/>
      </p:ext>
    </p:extLst>
  </p:cSld>
  <p:clrMap bg1="lt1" tx1="dk1" bg2="lt2" tx2="dk2" accent1="accent1" accent2="accent2" accent3="accent3" accent4="accent4" accent5="accent5" accent6="accent6" hlink="hlink" folHlink="folHlink"/>
  <p:sldLayoutIdLst>
    <p:sldLayoutId id="2147485626" r:id="rId1"/>
    <p:sldLayoutId id="2147485627" r:id="rId2"/>
    <p:sldLayoutId id="2147485628" r:id="rId3"/>
    <p:sldLayoutId id="2147485629" r:id="rId4"/>
    <p:sldLayoutId id="2147485630" r:id="rId5"/>
    <p:sldLayoutId id="2147485631" r:id="rId6"/>
    <p:sldLayoutId id="2147485632" r:id="rId7"/>
    <p:sldLayoutId id="2147485633" r:id="rId8"/>
    <p:sldLayoutId id="2147485634" r:id="rId9"/>
    <p:sldLayoutId id="2147485635" r:id="rId10"/>
    <p:sldLayoutId id="2147485636" r:id="rId11"/>
    <p:sldLayoutId id="2147485637" r:id="rId12"/>
    <p:sldLayoutId id="2147485638" r:id="rId13"/>
    <p:sldLayoutId id="2147485639" r:id="rId14"/>
    <p:sldLayoutId id="2147485640" r:id="rId15"/>
    <p:sldLayoutId id="214748564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a:extLst>
              <a:ext uri="{FF2B5EF4-FFF2-40B4-BE49-F238E27FC236}">
                <a16:creationId xmlns:a16="http://schemas.microsoft.com/office/drawing/2014/main" id="{4193727F-C4C7-604A-ECF7-8A9E65FAA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26" y="1"/>
            <a:ext cx="12095747" cy="685799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80DF04-4DC8-1915-61ED-EDAD9134F6C9}"/>
              </a:ext>
            </a:extLst>
          </p:cNvPr>
          <p:cNvSpPr txBox="1"/>
          <p:nvPr/>
        </p:nvSpPr>
        <p:spPr>
          <a:xfrm>
            <a:off x="2286000" y="4332515"/>
            <a:ext cx="6183086" cy="1200329"/>
          </a:xfrm>
          <a:prstGeom prst="rect">
            <a:avLst/>
          </a:prstGeom>
          <a:noFill/>
        </p:spPr>
        <p:txBody>
          <a:bodyPr wrap="square" rtlCol="0">
            <a:spAutoFit/>
          </a:bodyPr>
          <a:lstStyle/>
          <a:p>
            <a:r>
              <a:rPr lang="en-IN" sz="3600" b="1" dirty="0">
                <a:solidFill>
                  <a:srgbClr val="002060"/>
                </a:solidFill>
                <a:latin typeface="Times New Roman" panose="02020603050405020304" pitchFamily="18" charset="0"/>
                <a:cs typeface="Times New Roman" panose="02020603050405020304" pitchFamily="18" charset="0"/>
              </a:rPr>
              <a:t>LIBRARY MANAGEMENT </a:t>
            </a:r>
          </a:p>
          <a:p>
            <a:r>
              <a:rPr lang="en-IN" sz="3600" b="1" dirty="0">
                <a:solidFill>
                  <a:srgbClr val="002060"/>
                </a:solidFill>
                <a:latin typeface="Times New Roman" panose="02020603050405020304" pitchFamily="18" charset="0"/>
                <a:cs typeface="Times New Roman" panose="02020603050405020304" pitchFamily="18" charset="0"/>
              </a:rPr>
              <a:t>                 SYSTEM   </a:t>
            </a:r>
          </a:p>
        </p:txBody>
      </p:sp>
      <p:sp>
        <p:nvSpPr>
          <p:cNvPr id="2" name="TextBox 1">
            <a:extLst>
              <a:ext uri="{FF2B5EF4-FFF2-40B4-BE49-F238E27FC236}">
                <a16:creationId xmlns:a16="http://schemas.microsoft.com/office/drawing/2014/main" id="{18394BD4-4690-2147-103D-F51252057CAC}"/>
              </a:ext>
            </a:extLst>
          </p:cNvPr>
          <p:cNvSpPr txBox="1"/>
          <p:nvPr/>
        </p:nvSpPr>
        <p:spPr>
          <a:xfrm>
            <a:off x="5638800" y="2826774"/>
            <a:ext cx="914400" cy="91440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779103BA-C92A-4919-2CA1-730BB2C06EF0}"/>
              </a:ext>
            </a:extLst>
          </p:cNvPr>
          <p:cNvSpPr txBox="1"/>
          <p:nvPr/>
        </p:nvSpPr>
        <p:spPr>
          <a:xfrm flipH="1">
            <a:off x="639097" y="5722373"/>
            <a:ext cx="301850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Bisu Indrakaran Reddy</a:t>
            </a:r>
          </a:p>
        </p:txBody>
      </p:sp>
    </p:spTree>
    <p:extLst>
      <p:ext uri="{BB962C8B-B14F-4D97-AF65-F5344CB8AC3E}">
        <p14:creationId xmlns:p14="http://schemas.microsoft.com/office/powerpoint/2010/main" val="4083944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Library Font Royalty-Free Images ...">
            <a:extLst>
              <a:ext uri="{FF2B5EF4-FFF2-40B4-BE49-F238E27FC236}">
                <a16:creationId xmlns:a16="http://schemas.microsoft.com/office/drawing/2014/main" id="{E5F734BE-29EF-7DD4-80C5-BF350BAD1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811" y="1047499"/>
            <a:ext cx="7170821" cy="20875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7E818D3-4BCF-5CCA-1E92-3F2089B6717B}"/>
              </a:ext>
            </a:extLst>
          </p:cNvPr>
          <p:cNvSpPr txBox="1"/>
          <p:nvPr/>
        </p:nvSpPr>
        <p:spPr>
          <a:xfrm flipH="1">
            <a:off x="664026" y="3276600"/>
            <a:ext cx="11300994" cy="1215717"/>
          </a:xfrm>
          <a:prstGeom prst="rect">
            <a:avLst/>
          </a:prstGeom>
          <a:noFill/>
        </p:spPr>
        <p:txBody>
          <a:bodyPr wrap="square" rtlCol="0">
            <a:spAutoFit/>
          </a:bodyPr>
          <a:lstStyle/>
          <a:p>
            <a:r>
              <a:rPr lang="en-IN" sz="7200" b="1" dirty="0">
                <a:solidFill>
                  <a:srgbClr val="00B050"/>
                </a:solidFill>
                <a:latin typeface="Times New Roman" panose="02020603050405020304" pitchFamily="18" charset="0"/>
                <a:cs typeface="Times New Roman" panose="02020603050405020304" pitchFamily="18" charset="0"/>
              </a:rPr>
              <a:t>MANAGEMENT SYSTEM</a:t>
            </a:r>
          </a:p>
        </p:txBody>
      </p:sp>
    </p:spTree>
    <p:extLst>
      <p:ext uri="{BB962C8B-B14F-4D97-AF65-F5344CB8AC3E}">
        <p14:creationId xmlns:p14="http://schemas.microsoft.com/office/powerpoint/2010/main" val="3667328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1062D00-8624-F642-7D66-9F5A8F04A0DA}"/>
              </a:ext>
            </a:extLst>
          </p:cNvPr>
          <p:cNvSpPr>
            <a:spLocks noGrp="1" noChangeArrowheads="1"/>
          </p:cNvSpPr>
          <p:nvPr>
            <p:ph type="title"/>
          </p:nvPr>
        </p:nvSpPr>
        <p:spPr bwMode="auto">
          <a:xfrm>
            <a:off x="1389413" y="1225689"/>
            <a:ext cx="9880271"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Library Management System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used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 all library activities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helps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records of books, authors, publishers, and library members.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makes it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issue and return books.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availability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copies of each book.</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Borrowers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borrow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return books,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their details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are stored in the      system.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connects information about books, authors, publishers, and branches.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helps librarians to quickly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add, or update book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information.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reduces manual work,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avoids record-keeping errors.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main goal is to make library management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efficient, and organized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163A12B4-0664-30F0-99B6-F1E27F78D898}"/>
              </a:ext>
            </a:extLst>
          </p:cNvPr>
          <p:cNvSpPr txBox="1"/>
          <p:nvPr/>
        </p:nvSpPr>
        <p:spPr>
          <a:xfrm>
            <a:off x="2000655" y="406445"/>
            <a:ext cx="819068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724679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A screenshot of a computer&#10;&#10;AI-generated content may be incorrect.">
            <a:extLst>
              <a:ext uri="{FF2B5EF4-FFF2-40B4-BE49-F238E27FC236}">
                <a16:creationId xmlns:a16="http://schemas.microsoft.com/office/drawing/2014/main" id="{AA02B9B9-44FA-6B67-16B9-192F6F7C6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30" y="1376613"/>
            <a:ext cx="536057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screenshot of a computer&#10;&#10;AI-generated content may be incorrect.">
            <a:extLst>
              <a:ext uri="{FF2B5EF4-FFF2-40B4-BE49-F238E27FC236}">
                <a16:creationId xmlns:a16="http://schemas.microsoft.com/office/drawing/2014/main" id="{3EAF9547-C987-FAE7-9263-907FDB4C5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319" y="3795463"/>
            <a:ext cx="536057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 screenshot of a computer&#10;&#10;AI-generated content may be incorrect.">
            <a:extLst>
              <a:ext uri="{FF2B5EF4-FFF2-40B4-BE49-F238E27FC236}">
                <a16:creationId xmlns:a16="http://schemas.microsoft.com/office/drawing/2014/main" id="{ED641407-1ECE-E087-4BD6-6845AE639D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9602" y="1762367"/>
            <a:ext cx="5624941" cy="172402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 screenshot of a computer&#10;&#10;AI-generated content may be incorrect.">
            <a:extLst>
              <a:ext uri="{FF2B5EF4-FFF2-40B4-BE49-F238E27FC236}">
                <a16:creationId xmlns:a16="http://schemas.microsoft.com/office/drawing/2014/main" id="{8B3715DA-B1AA-0FDB-AE8C-2DFC008CB6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4112" y="4621417"/>
            <a:ext cx="5620431" cy="1638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8169DE9-66E0-3236-963E-E88ECAEDF141}"/>
              </a:ext>
            </a:extLst>
          </p:cNvPr>
          <p:cNvSpPr txBox="1"/>
          <p:nvPr/>
        </p:nvSpPr>
        <p:spPr>
          <a:xfrm>
            <a:off x="5344886" y="76084"/>
            <a:ext cx="1450333"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Tables</a:t>
            </a:r>
            <a:endParaRPr lang="en-IN" sz="36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F0F23D2-991E-B613-BC0E-516342E6D182}"/>
              </a:ext>
            </a:extLst>
          </p:cNvPr>
          <p:cNvSpPr txBox="1"/>
          <p:nvPr/>
        </p:nvSpPr>
        <p:spPr>
          <a:xfrm>
            <a:off x="1763486" y="805543"/>
            <a:ext cx="4198914" cy="435428"/>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id="{9D83D98E-A281-CF13-60BE-0673EB9A86E8}"/>
              </a:ext>
            </a:extLst>
          </p:cNvPr>
          <p:cNvSpPr txBox="1"/>
          <p:nvPr/>
        </p:nvSpPr>
        <p:spPr>
          <a:xfrm>
            <a:off x="2341915" y="817567"/>
            <a:ext cx="419891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Publisher</a:t>
            </a:r>
            <a:endParaRPr lang="en-IN" sz="28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B23E4D8-DA32-0031-B3F2-FEC181F66FD8}"/>
              </a:ext>
            </a:extLst>
          </p:cNvPr>
          <p:cNvSpPr txBox="1"/>
          <p:nvPr/>
        </p:nvSpPr>
        <p:spPr>
          <a:xfrm>
            <a:off x="7119257" y="981251"/>
            <a:ext cx="370114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             Books</a:t>
            </a:r>
            <a:endParaRPr lang="en-IN" sz="28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F1CB677-6B68-818B-8EFC-020284FEDD88}"/>
              </a:ext>
            </a:extLst>
          </p:cNvPr>
          <p:cNvSpPr txBox="1"/>
          <p:nvPr/>
        </p:nvSpPr>
        <p:spPr>
          <a:xfrm>
            <a:off x="2030688" y="3269074"/>
            <a:ext cx="4299857"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Book Loans</a:t>
            </a:r>
            <a:endParaRPr lang="en-IN" sz="28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C9B8A49-58BD-310C-7657-E20ADA56E71E}"/>
              </a:ext>
            </a:extLst>
          </p:cNvPr>
          <p:cNvSpPr txBox="1"/>
          <p:nvPr/>
        </p:nvSpPr>
        <p:spPr>
          <a:xfrm>
            <a:off x="6847114" y="3940629"/>
            <a:ext cx="493122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          Library Branch</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049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6B7076EE-FDE1-C4EB-5796-63EFA6FD9F3E}"/>
              </a:ext>
            </a:extLst>
          </p:cNvPr>
          <p:cNvSpPr txBox="1"/>
          <p:nvPr/>
        </p:nvSpPr>
        <p:spPr>
          <a:xfrm>
            <a:off x="1882798" y="715560"/>
            <a:ext cx="281166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b="1" dirty="0">
                <a:latin typeface="Times New Roman" panose="02020603050405020304" pitchFamily="18" charset="0"/>
                <a:cs typeface="Times New Roman" panose="02020603050405020304" pitchFamily="18" charset="0"/>
              </a:rPr>
              <a:t>Book Authors</a:t>
            </a:r>
          </a:p>
        </p:txBody>
      </p:sp>
      <p:pic>
        <p:nvPicPr>
          <p:cNvPr id="2050" name="Picture 2" descr="A screenshot of a computer&#10;&#10;AI-generated content may be incorrect.">
            <a:extLst>
              <a:ext uri="{FF2B5EF4-FFF2-40B4-BE49-F238E27FC236}">
                <a16:creationId xmlns:a16="http://schemas.microsoft.com/office/drawing/2014/main" id="{907603AF-9325-8E41-8670-117A5033AE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44" y="1556487"/>
            <a:ext cx="6106886" cy="1981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0">
            <a:extLst>
              <a:ext uri="{FF2B5EF4-FFF2-40B4-BE49-F238E27FC236}">
                <a16:creationId xmlns:a16="http://schemas.microsoft.com/office/drawing/2014/main" id="{3C840E68-715E-C32F-FF7C-C50820E492EC}"/>
              </a:ext>
            </a:extLst>
          </p:cNvPr>
          <p:cNvSpPr txBox="1"/>
          <p:nvPr/>
        </p:nvSpPr>
        <p:spPr>
          <a:xfrm>
            <a:off x="8168460" y="567969"/>
            <a:ext cx="2558391"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b="1" dirty="0">
                <a:latin typeface="Times New Roman" panose="02020603050405020304" pitchFamily="18" charset="0"/>
                <a:cs typeface="Times New Roman" panose="02020603050405020304" pitchFamily="18" charset="0"/>
              </a:rPr>
              <a:t>Book Copies</a:t>
            </a:r>
          </a:p>
        </p:txBody>
      </p:sp>
      <p:pic>
        <p:nvPicPr>
          <p:cNvPr id="2052" name="Picture 4" descr="A screenshot of a computer&#10;&#10;AI-generated content may be incorrect.">
            <a:extLst>
              <a:ext uri="{FF2B5EF4-FFF2-40B4-BE49-F238E27FC236}">
                <a16:creationId xmlns:a16="http://schemas.microsoft.com/office/drawing/2014/main" id="{0A4BAE2E-0C0A-25CA-54AD-8544DF8EE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171" y="1512774"/>
            <a:ext cx="4800600" cy="206862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 screenshot of a computer">
            <a:extLst>
              <a:ext uri="{FF2B5EF4-FFF2-40B4-BE49-F238E27FC236}">
                <a16:creationId xmlns:a16="http://schemas.microsoft.com/office/drawing/2014/main" id="{813C6CC8-2DC2-076F-43C8-BA5496CB4B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144" y="4301551"/>
            <a:ext cx="5943599" cy="2362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14">
            <a:extLst>
              <a:ext uri="{FF2B5EF4-FFF2-40B4-BE49-F238E27FC236}">
                <a16:creationId xmlns:a16="http://schemas.microsoft.com/office/drawing/2014/main" id="{78968C9E-1B60-49B8-00D8-C68256372961}"/>
              </a:ext>
            </a:extLst>
          </p:cNvPr>
          <p:cNvSpPr txBox="1"/>
          <p:nvPr/>
        </p:nvSpPr>
        <p:spPr>
          <a:xfrm>
            <a:off x="1323227" y="3605375"/>
            <a:ext cx="3371238"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3200" b="1" dirty="0">
                <a:latin typeface="Times New Roman" panose="02020603050405020304" pitchFamily="18" charset="0"/>
                <a:cs typeface="Times New Roman" panose="02020603050405020304" pitchFamily="18" charset="0"/>
              </a:rPr>
              <a:t>Book Borrowers</a:t>
            </a:r>
          </a:p>
        </p:txBody>
      </p:sp>
      <p:pic>
        <p:nvPicPr>
          <p:cNvPr id="1026" name="Picture 2" descr="10,000+ Best Library Photos · 100% Free Download · Pexels ...">
            <a:extLst>
              <a:ext uri="{FF2B5EF4-FFF2-40B4-BE49-F238E27FC236}">
                <a16:creationId xmlns:a16="http://schemas.microsoft.com/office/drawing/2014/main" id="{EFBC80FC-891C-8DAA-5EC9-9BE8DC608B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2171" y="4301552"/>
            <a:ext cx="4800600" cy="206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05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B9A1D4-DB0B-F829-8A09-103841EE6CDA}"/>
              </a:ext>
            </a:extLst>
          </p:cNvPr>
          <p:cNvSpPr txBox="1"/>
          <p:nvPr/>
        </p:nvSpPr>
        <p:spPr>
          <a:xfrm>
            <a:off x="4480330" y="125185"/>
            <a:ext cx="3973859"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ER DIAGRAM</a:t>
            </a:r>
          </a:p>
        </p:txBody>
      </p:sp>
      <p:pic>
        <p:nvPicPr>
          <p:cNvPr id="3074" name="Picture 2">
            <a:extLst>
              <a:ext uri="{FF2B5EF4-FFF2-40B4-BE49-F238E27FC236}">
                <a16:creationId xmlns:a16="http://schemas.microsoft.com/office/drawing/2014/main" id="{0FA6D419-27F0-E7F4-2ED1-2B5FD1D5E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8212" y="991704"/>
            <a:ext cx="10063347" cy="5961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00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05FA-55FF-112E-5E5D-DBA1189C7A0D}"/>
              </a:ext>
            </a:extLst>
          </p:cNvPr>
          <p:cNvSpPr>
            <a:spLocks noGrp="1"/>
          </p:cNvSpPr>
          <p:nvPr>
            <p:ph type="title"/>
          </p:nvPr>
        </p:nvSpPr>
        <p:spPr>
          <a:xfrm>
            <a:off x="1795226" y="499419"/>
            <a:ext cx="8911687" cy="1280890"/>
          </a:xfrm>
        </p:spPr>
        <p:txBody>
          <a:bodyPr>
            <a:normAutofit/>
          </a:bodyPr>
          <a:lstStyle/>
          <a:p>
            <a:r>
              <a:rPr lang="en-IN" b="1" dirty="0">
                <a:latin typeface="Times New Roman" panose="02020603050405020304" pitchFamily="18" charset="0"/>
                <a:cs typeface="Times New Roman" panose="02020603050405020304" pitchFamily="18" charset="0"/>
              </a:rPr>
              <a:t>PROBLEM STATEMENT</a:t>
            </a:r>
          </a:p>
        </p:txBody>
      </p:sp>
      <p:sp>
        <p:nvSpPr>
          <p:cNvPr id="6" name="Rectangle 1">
            <a:extLst>
              <a:ext uri="{FF2B5EF4-FFF2-40B4-BE49-F238E27FC236}">
                <a16:creationId xmlns:a16="http://schemas.microsoft.com/office/drawing/2014/main" id="{CDE8ACC4-CF6A-2A15-DE0C-A332F9B5C5DC}"/>
              </a:ext>
            </a:extLst>
          </p:cNvPr>
          <p:cNvSpPr>
            <a:spLocks noGrp="1" noChangeArrowheads="1"/>
          </p:cNvSpPr>
          <p:nvPr>
            <p:ph idx="1"/>
          </p:nvPr>
        </p:nvSpPr>
        <p:spPr bwMode="auto">
          <a:xfrm>
            <a:off x="1104405" y="970911"/>
            <a:ext cx="1029333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management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 library operations often leads to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errors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duplication,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tracking books, borrowers,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transactions.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overcome these challenges, there is a need for a digital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Library Management System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SQL that can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efficiently store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 information about books, authors, publishers, borrowers,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branches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structured database. The system should automate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 issuing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returning,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 the availability of copies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across branches,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useful reports,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ensure data accuracy and consistency. It should also provide fast and easy search and retrieval of information, making library management more efficient, reliable, and well-organized.</a:t>
            </a:r>
          </a:p>
        </p:txBody>
      </p:sp>
    </p:spTree>
    <p:extLst>
      <p:ext uri="{BB962C8B-B14F-4D97-AF65-F5344CB8AC3E}">
        <p14:creationId xmlns:p14="http://schemas.microsoft.com/office/powerpoint/2010/main" val="387391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72AF2455-9A21-7B0D-5849-6118975F7DE8}"/>
              </a:ext>
            </a:extLst>
          </p:cNvPr>
          <p:cNvSpPr txBox="1"/>
          <p:nvPr/>
        </p:nvSpPr>
        <p:spPr>
          <a:xfrm>
            <a:off x="1338943" y="1175011"/>
            <a:ext cx="10210800" cy="95410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Bef>
                <a:spcPts val="200"/>
              </a:spcBef>
            </a:pPr>
            <a:r>
              <a:rPr lang="en-US" sz="2800" b="1" dirty="0">
                <a:latin typeface="Times New Roman" panose="02020603050405020304" pitchFamily="18" charset="0"/>
                <a:cs typeface="Times New Roman" panose="02020603050405020304" pitchFamily="18" charset="0"/>
              </a:rPr>
              <a:t>1. How many copies of the book titled "The Lost Tribe" are owned by the library branch whose name is "Sharpstown"?</a:t>
            </a:r>
            <a:endParaRPr lang="en-IN" sz="2800" b="1" dirty="0">
              <a:latin typeface="Times New Roman" panose="02020603050405020304" pitchFamily="18" charset="0"/>
              <a:cs typeface="Times New Roman" panose="02020603050405020304" pitchFamily="18" charset="0"/>
            </a:endParaRPr>
          </a:p>
        </p:txBody>
      </p:sp>
      <p:pic>
        <p:nvPicPr>
          <p:cNvPr id="4102" name="Picture 6">
            <a:extLst>
              <a:ext uri="{FF2B5EF4-FFF2-40B4-BE49-F238E27FC236}">
                <a16:creationId xmlns:a16="http://schemas.microsoft.com/office/drawing/2014/main" id="{3FB6F267-E88D-98E3-6D8E-1C3B26DB3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943" y="2389907"/>
            <a:ext cx="7797142" cy="144948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AA4B93F3-E103-3033-582F-8357F3445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014" y="4233504"/>
            <a:ext cx="3656142" cy="144948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02C3F82-BD99-A881-F151-1CCACA1B25D4}"/>
              </a:ext>
            </a:extLst>
          </p:cNvPr>
          <p:cNvSpPr txBox="1"/>
          <p:nvPr/>
        </p:nvSpPr>
        <p:spPr>
          <a:xfrm>
            <a:off x="1426028" y="4233504"/>
            <a:ext cx="4757057" cy="1538883"/>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INSIGHT:</a:t>
            </a:r>
          </a:p>
          <a:p>
            <a:endParaRPr lang="en-US" dirty="0"/>
          </a:p>
          <a:p>
            <a:r>
              <a:rPr lang="en-US" sz="2400" dirty="0">
                <a:latin typeface="Times New Roman" panose="02020603050405020304" pitchFamily="18" charset="0"/>
                <a:cs typeface="Times New Roman" panose="02020603050405020304" pitchFamily="18" charset="0"/>
              </a:rPr>
              <a:t>Helps know if enough copies are available or if more should be added.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077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A64383FE-BF48-AD58-5143-F56052F26B8E}"/>
              </a:ext>
            </a:extLst>
          </p:cNvPr>
          <p:cNvSpPr txBox="1"/>
          <p:nvPr/>
        </p:nvSpPr>
        <p:spPr>
          <a:xfrm>
            <a:off x="1387808" y="1210014"/>
            <a:ext cx="10032296" cy="95410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Bef>
                <a:spcPts val="200"/>
              </a:spcBef>
            </a:pPr>
            <a:r>
              <a:rPr lang="en-US" sz="2800" b="1" dirty="0">
                <a:latin typeface="Times New Roman" panose="02020603050405020304" pitchFamily="18" charset="0"/>
                <a:cs typeface="Times New Roman" panose="02020603050405020304" pitchFamily="18" charset="0"/>
              </a:rPr>
              <a:t>2. How many copies of the book titled "The Lost Tribe" are owned by each library branch?</a:t>
            </a:r>
            <a:endParaRPr lang="en-IN" sz="2800" b="1" dirty="0">
              <a:latin typeface="Times New Roman" panose="02020603050405020304" pitchFamily="18" charset="0"/>
              <a:cs typeface="Times New Roman" panose="02020603050405020304" pitchFamily="18" charset="0"/>
            </a:endParaRPr>
          </a:p>
        </p:txBody>
      </p:sp>
      <p:pic>
        <p:nvPicPr>
          <p:cNvPr id="5126" name="Picture 6">
            <a:extLst>
              <a:ext uri="{FF2B5EF4-FFF2-40B4-BE49-F238E27FC236}">
                <a16:creationId xmlns:a16="http://schemas.microsoft.com/office/drawing/2014/main" id="{8F497E13-F9CE-6E70-8399-171ACBA750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7808" y="2266389"/>
            <a:ext cx="9210919" cy="182936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3F361945-A26F-40DA-A024-C303C12F4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255" y="4300287"/>
            <a:ext cx="5157849" cy="197582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79A7C4-4635-111B-FF0D-F008CF93A1B6}"/>
              </a:ext>
            </a:extLst>
          </p:cNvPr>
          <p:cNvSpPr txBox="1"/>
          <p:nvPr/>
        </p:nvSpPr>
        <p:spPr>
          <a:xfrm>
            <a:off x="1387808" y="4644893"/>
            <a:ext cx="4299857" cy="1631216"/>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INSIGHT:</a:t>
            </a:r>
          </a:p>
          <a:p>
            <a:endParaRPr lang="en-IN"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Shows how books are distributed among all branches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8761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330FC32E-392C-2CC9-7FC2-3D978A23F1E2}"/>
              </a:ext>
            </a:extLst>
          </p:cNvPr>
          <p:cNvSpPr txBox="1"/>
          <p:nvPr/>
        </p:nvSpPr>
        <p:spPr>
          <a:xfrm>
            <a:off x="1368972" y="1167114"/>
            <a:ext cx="11007847" cy="95410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2800" b="1" dirty="0">
                <a:latin typeface="Times New Roman" panose="02020603050405020304" pitchFamily="18" charset="0"/>
                <a:cs typeface="Times New Roman" panose="02020603050405020304" pitchFamily="18" charset="0"/>
              </a:rPr>
              <a:t>3. Retrieve the names of all borrowers who do not have any books checked out.</a:t>
            </a:r>
            <a:endParaRPr lang="en-IN" sz="2800" b="1" dirty="0">
              <a:latin typeface="Times New Roman" panose="02020603050405020304" pitchFamily="18" charset="0"/>
              <a:cs typeface="Times New Roman" panose="02020603050405020304" pitchFamily="18" charset="0"/>
            </a:endParaRPr>
          </a:p>
        </p:txBody>
      </p:sp>
      <p:pic>
        <p:nvPicPr>
          <p:cNvPr id="6146" name="Picture 2">
            <a:extLst>
              <a:ext uri="{FF2B5EF4-FFF2-40B4-BE49-F238E27FC236}">
                <a16:creationId xmlns:a16="http://schemas.microsoft.com/office/drawing/2014/main" id="{44A3997A-BD28-9EF8-D551-BC97F44B0A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972" y="2218952"/>
            <a:ext cx="7328714" cy="130802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18898E9D-0602-631F-998F-D8CF211D7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8721" y="4310742"/>
            <a:ext cx="3455604" cy="150394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5D40D0A-60E9-F7AC-D472-C72C065D0C5E}"/>
              </a:ext>
            </a:extLst>
          </p:cNvPr>
          <p:cNvSpPr txBox="1"/>
          <p:nvPr/>
        </p:nvSpPr>
        <p:spPr>
          <a:xfrm>
            <a:off x="1480456" y="4310742"/>
            <a:ext cx="4865915" cy="1692771"/>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INSIGHT:</a:t>
            </a:r>
          </a:p>
          <a:p>
            <a:endParaRPr lang="en-IN" sz="28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Helps identify inactive members and encourage them to use the library.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037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534F791D-29C9-7A81-AD7B-13007BFDADFC}"/>
              </a:ext>
            </a:extLst>
          </p:cNvPr>
          <p:cNvSpPr txBox="1"/>
          <p:nvPr/>
        </p:nvSpPr>
        <p:spPr>
          <a:xfrm>
            <a:off x="1316813" y="1027661"/>
            <a:ext cx="10520507" cy="13849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2800" b="1" dirty="0">
                <a:latin typeface="Times New Roman" panose="02020603050405020304" pitchFamily="18" charset="0"/>
                <a:cs typeface="Times New Roman" panose="02020603050405020304" pitchFamily="18" charset="0"/>
              </a:rPr>
              <a:t>4. For each book that is loaned out from the "Sharpstown" branch and whose Due Date is 2/3/18, retrieve the book title, the borrower's name, and the borrower's address.</a:t>
            </a:r>
            <a:endParaRPr lang="en-IN" sz="2800" b="1" dirty="0">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a16="http://schemas.microsoft.com/office/drawing/2014/main" id="{E9B9E53A-FB7D-B645-9048-26C7B8F94F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813" y="2412656"/>
            <a:ext cx="9558374" cy="172985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957FEFD-8779-0959-D6AD-88DF498E2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199" y="4321628"/>
            <a:ext cx="7043057" cy="21989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AA782ED-4147-760B-ED0C-7B8550C2D40E}"/>
              </a:ext>
            </a:extLst>
          </p:cNvPr>
          <p:cNvSpPr txBox="1"/>
          <p:nvPr/>
        </p:nvSpPr>
        <p:spPr>
          <a:xfrm>
            <a:off x="1316813" y="4321628"/>
            <a:ext cx="3233416" cy="190821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INSIGHTS:</a:t>
            </a:r>
          </a:p>
          <a:p>
            <a:endParaRPr lang="en-US"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Reminds borrowers to return books on time and helps manage due dates.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4770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6166D06C-98C6-8365-3D81-68B4903E98CE}"/>
              </a:ext>
            </a:extLst>
          </p:cNvPr>
          <p:cNvSpPr txBox="1"/>
          <p:nvPr/>
        </p:nvSpPr>
        <p:spPr>
          <a:xfrm>
            <a:off x="1258739" y="1233080"/>
            <a:ext cx="10334547" cy="95410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200"/>
              </a:spcBef>
            </a:pPr>
            <a:r>
              <a:rPr lang="en-US" sz="2800" b="1" dirty="0">
                <a:latin typeface="Times New Roman" panose="02020603050405020304" pitchFamily="18" charset="0"/>
                <a:cs typeface="Times New Roman" panose="02020603050405020304" pitchFamily="18" charset="0"/>
              </a:rPr>
              <a:t>5. For each library branch, retrieve the branch name and the total number of books loaned out from that branch.</a:t>
            </a:r>
            <a:endParaRPr lang="en-IN" sz="2800" b="1" dirty="0">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513138F4-5040-E397-81C5-B01F62A6B5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739" y="2187187"/>
            <a:ext cx="8481006" cy="196477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A80CDC3B-DDEB-9406-347E-8D1E66CD0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0425" y="4423932"/>
            <a:ext cx="5317176" cy="19647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76F0F84-9554-1633-A0CB-4598F5371D2A}"/>
              </a:ext>
            </a:extLst>
          </p:cNvPr>
          <p:cNvSpPr txBox="1"/>
          <p:nvPr/>
        </p:nvSpPr>
        <p:spPr>
          <a:xfrm>
            <a:off x="1258739" y="4423932"/>
            <a:ext cx="4325632" cy="1631216"/>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INSIGHT:</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Helps find out which branch has more activity and which has less.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432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94654132-0D44-9B35-F681-7EEF6617B663}"/>
              </a:ext>
            </a:extLst>
          </p:cNvPr>
          <p:cNvSpPr txBox="1"/>
          <p:nvPr/>
        </p:nvSpPr>
        <p:spPr>
          <a:xfrm>
            <a:off x="1148323" y="1151984"/>
            <a:ext cx="10571633" cy="95410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Bef>
                <a:spcPts val="200"/>
              </a:spcBef>
            </a:pPr>
            <a:r>
              <a:rPr lang="en-US" sz="2800" b="1" dirty="0">
                <a:latin typeface="Times New Roman" panose="02020603050405020304" pitchFamily="18" charset="0"/>
                <a:cs typeface="Times New Roman" panose="02020603050405020304" pitchFamily="18" charset="0"/>
              </a:rPr>
              <a:t>6. Retrieve the names, addresses, and number of books checked out for all borrowers who have more than five books checked out.</a:t>
            </a:r>
            <a:endParaRPr lang="en-IN" sz="2800" b="1" dirty="0">
              <a:latin typeface="Times New Roman" panose="02020603050405020304" pitchFamily="18" charset="0"/>
              <a:cs typeface="Times New Roman" panose="02020603050405020304" pitchFamily="18" charset="0"/>
            </a:endParaRPr>
          </a:p>
        </p:txBody>
      </p:sp>
      <p:pic>
        <p:nvPicPr>
          <p:cNvPr id="9218" name="Picture 2">
            <a:extLst>
              <a:ext uri="{FF2B5EF4-FFF2-40B4-BE49-F238E27FC236}">
                <a16:creationId xmlns:a16="http://schemas.microsoft.com/office/drawing/2014/main" id="{10F55BA8-CE7E-6FC1-47CB-DDFC9F1DD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079" y="2245675"/>
            <a:ext cx="10430119" cy="193636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DF270B24-75DF-6129-C35B-44859890B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6632" y="4103913"/>
            <a:ext cx="6232566" cy="24236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0A157C-F494-2303-CF43-9B0724A2463F}"/>
              </a:ext>
            </a:extLst>
          </p:cNvPr>
          <p:cNvSpPr txBox="1"/>
          <p:nvPr/>
        </p:nvSpPr>
        <p:spPr>
          <a:xfrm>
            <a:off x="1148323" y="4182044"/>
            <a:ext cx="4197553" cy="200054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INSIGHT:</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Makes it easier to track heavy borrowers and manage lending limits or rewards.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801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9A375AF4-488A-66EF-970D-594B966D82F7}"/>
              </a:ext>
            </a:extLst>
          </p:cNvPr>
          <p:cNvSpPr txBox="1"/>
          <p:nvPr/>
        </p:nvSpPr>
        <p:spPr>
          <a:xfrm>
            <a:off x="1371601" y="990811"/>
            <a:ext cx="10087154" cy="138499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Bef>
                <a:spcPts val="200"/>
              </a:spcBef>
            </a:pPr>
            <a:r>
              <a:rPr lang="en-US" sz="2800" b="1" dirty="0">
                <a:latin typeface="Times New Roman" panose="02020603050405020304" pitchFamily="18" charset="0"/>
                <a:cs typeface="Times New Roman" panose="02020603050405020304" pitchFamily="18" charset="0"/>
              </a:rPr>
              <a:t>7. For each book authored by "Stephen King", retrieve the title and the number of copies owned by the library branch whose name is "Central".</a:t>
            </a:r>
            <a:endParaRPr lang="en-IN" sz="2800" b="1" dirty="0">
              <a:latin typeface="Times New Roman" panose="02020603050405020304" pitchFamily="18" charset="0"/>
              <a:cs typeface="Times New Roman" panose="02020603050405020304" pitchFamily="18" charset="0"/>
            </a:endParaRPr>
          </a:p>
        </p:txBody>
      </p:sp>
      <p:pic>
        <p:nvPicPr>
          <p:cNvPr id="10242" name="Picture 2">
            <a:extLst>
              <a:ext uri="{FF2B5EF4-FFF2-40B4-BE49-F238E27FC236}">
                <a16:creationId xmlns:a16="http://schemas.microsoft.com/office/drawing/2014/main" id="{107D7B5F-889B-FC15-8728-5DD04B9F4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1079" y="2435678"/>
            <a:ext cx="9967408" cy="215809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0ED5AA96-75C7-B4C2-7FA4-67CF50DA3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7639" y="4809508"/>
            <a:ext cx="4561116" cy="14715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8282C28-5EAB-A3B7-72D9-9E07F58E6E1D}"/>
              </a:ext>
            </a:extLst>
          </p:cNvPr>
          <p:cNvSpPr txBox="1"/>
          <p:nvPr/>
        </p:nvSpPr>
        <p:spPr>
          <a:xfrm>
            <a:off x="1321079" y="4593772"/>
            <a:ext cx="5312229" cy="2000548"/>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INSIGHT:</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Helps manage and check the availability of popular author books...change starting word helps and generate in simple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252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DDC248-2755-28A5-9FCC-770A06BA19F8}"/>
              </a:ext>
            </a:extLst>
          </p:cNvPr>
          <p:cNvSpPr txBox="1"/>
          <p:nvPr/>
        </p:nvSpPr>
        <p:spPr>
          <a:xfrm>
            <a:off x="1864919" y="633845"/>
            <a:ext cx="4463143"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307885D4-F6A8-D610-7A3D-46461EB9FB45}"/>
              </a:ext>
            </a:extLst>
          </p:cNvPr>
          <p:cNvSpPr txBox="1"/>
          <p:nvPr/>
        </p:nvSpPr>
        <p:spPr>
          <a:xfrm>
            <a:off x="1445820" y="1529937"/>
            <a:ext cx="9764485" cy="5262979"/>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Library Management System</a:t>
            </a:r>
            <a:r>
              <a:rPr lang="en-US" sz="2800" dirty="0">
                <a:latin typeface="Times New Roman" panose="02020603050405020304" pitchFamily="18" charset="0"/>
                <a:cs typeface="Times New Roman" panose="02020603050405020304" pitchFamily="18" charset="0"/>
              </a:rPr>
              <a:t> effectively solves the problems of </a:t>
            </a:r>
            <a:r>
              <a:rPr lang="en-US" sz="2800" b="1" dirty="0">
                <a:latin typeface="Times New Roman" panose="02020603050405020304" pitchFamily="18" charset="0"/>
                <a:cs typeface="Times New Roman" panose="02020603050405020304" pitchFamily="18" charset="0"/>
              </a:rPr>
              <a:t>traditional library management </a:t>
            </a:r>
            <a:r>
              <a:rPr lang="en-US" sz="2800" dirty="0">
                <a:latin typeface="Times New Roman" panose="02020603050405020304" pitchFamily="18" charset="0"/>
                <a:cs typeface="Times New Roman" panose="02020603050405020304" pitchFamily="18" charset="0"/>
              </a:rPr>
              <a:t>by providing a </a:t>
            </a:r>
            <a:r>
              <a:rPr lang="en-US" sz="2800" b="1" dirty="0">
                <a:latin typeface="Times New Roman" panose="02020603050405020304" pitchFamily="18" charset="0"/>
                <a:cs typeface="Times New Roman" panose="02020603050405020304" pitchFamily="18" charset="0"/>
              </a:rPr>
              <a:t>digital</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SQL-based solution </a:t>
            </a:r>
            <a:r>
              <a:rPr lang="en-US" sz="2800" dirty="0">
                <a:latin typeface="Times New Roman" panose="02020603050405020304" pitchFamily="18" charset="0"/>
                <a:cs typeface="Times New Roman" panose="02020603050405020304" pitchFamily="18" charset="0"/>
              </a:rPr>
              <a:t>for </a:t>
            </a:r>
            <a:r>
              <a:rPr lang="en-US" sz="2800" b="1" dirty="0">
                <a:latin typeface="Times New Roman" panose="02020603050405020304" pitchFamily="18" charset="0"/>
                <a:cs typeface="Times New Roman" panose="02020603050405020304" pitchFamily="18" charset="0"/>
              </a:rPr>
              <a:t>storing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handling all library data. </a:t>
            </a:r>
            <a:r>
              <a:rPr lang="en-US" sz="2800" dirty="0">
                <a:latin typeface="Times New Roman" panose="02020603050405020304" pitchFamily="18" charset="0"/>
                <a:cs typeface="Times New Roman" panose="02020603050405020304" pitchFamily="18" charset="0"/>
              </a:rPr>
              <a:t>It maintains </a:t>
            </a:r>
            <a:r>
              <a:rPr lang="en-US" sz="2800" b="1" dirty="0">
                <a:latin typeface="Times New Roman" panose="02020603050405020304" pitchFamily="18" charset="0"/>
                <a:cs typeface="Times New Roman" panose="02020603050405020304" pitchFamily="18" charset="0"/>
              </a:rPr>
              <a:t>accurate records of books, authors, publishers, borrowers</a:t>
            </a:r>
            <a:r>
              <a:rPr lang="en-US" sz="2800" dirty="0">
                <a:latin typeface="Times New Roman" panose="02020603050405020304" pitchFamily="18" charset="0"/>
                <a:cs typeface="Times New Roman" panose="02020603050405020304" pitchFamily="18" charset="0"/>
              </a:rPr>
              <a:t>, and branches, ensuring easy tracking of </a:t>
            </a:r>
            <a:r>
              <a:rPr lang="en-US" sz="2800" b="1" dirty="0">
                <a:latin typeface="Times New Roman" panose="02020603050405020304" pitchFamily="18" charset="0"/>
                <a:cs typeface="Times New Roman" panose="02020603050405020304" pitchFamily="18" charset="0"/>
              </a:rPr>
              <a:t>book availability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transactions.</a:t>
            </a:r>
            <a:r>
              <a:rPr lang="en-US" sz="2800" dirty="0">
                <a:latin typeface="Times New Roman" panose="02020603050405020304" pitchFamily="18" charset="0"/>
                <a:cs typeface="Times New Roman" panose="02020603050405020304" pitchFamily="18" charset="0"/>
              </a:rPr>
              <a:t> The system simplifies issuing and </a:t>
            </a:r>
            <a:r>
              <a:rPr lang="en-US" sz="2800" b="1" dirty="0">
                <a:latin typeface="Times New Roman" panose="02020603050405020304" pitchFamily="18" charset="0"/>
                <a:cs typeface="Times New Roman" panose="02020603050405020304" pitchFamily="18" charset="0"/>
              </a:rPr>
              <a:t>returning books, reduces manual errors,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saves valuable time. </a:t>
            </a:r>
            <a:r>
              <a:rPr lang="en-US" sz="2800" dirty="0">
                <a:latin typeface="Times New Roman" panose="02020603050405020304" pitchFamily="18" charset="0"/>
                <a:cs typeface="Times New Roman" panose="02020603050405020304" pitchFamily="18" charset="0"/>
              </a:rPr>
              <a:t>With the help of </a:t>
            </a:r>
            <a:r>
              <a:rPr lang="en-US" sz="2800" b="1" dirty="0">
                <a:latin typeface="Times New Roman" panose="02020603050405020304" pitchFamily="18" charset="0"/>
                <a:cs typeface="Times New Roman" panose="02020603050405020304" pitchFamily="18" charset="0"/>
              </a:rPr>
              <a:t>SQL queries</a:t>
            </a:r>
            <a:r>
              <a:rPr lang="en-US" sz="2800" dirty="0">
                <a:latin typeface="Times New Roman" panose="02020603050405020304" pitchFamily="18" charset="0"/>
                <a:cs typeface="Times New Roman" panose="02020603050405020304" pitchFamily="18" charset="0"/>
              </a:rPr>
              <a:t>, it allows </a:t>
            </a:r>
            <a:r>
              <a:rPr lang="en-US" sz="2800" b="1" dirty="0">
                <a:latin typeface="Times New Roman" panose="02020603050405020304" pitchFamily="18" charset="0"/>
                <a:cs typeface="Times New Roman" panose="02020603050405020304" pitchFamily="18" charset="0"/>
              </a:rPr>
              <a:t>quick data retrieval</a:t>
            </a:r>
            <a:r>
              <a:rPr lang="en-US" sz="2800" dirty="0">
                <a:latin typeface="Times New Roman" panose="02020603050405020304" pitchFamily="18" charset="0"/>
                <a:cs typeface="Times New Roman" panose="02020603050405020304" pitchFamily="18" charset="0"/>
              </a:rPr>
              <a:t>, efficient </a:t>
            </a:r>
            <a:r>
              <a:rPr lang="en-US" sz="2800" b="1" dirty="0">
                <a:latin typeface="Times New Roman" panose="02020603050405020304" pitchFamily="18" charset="0"/>
                <a:cs typeface="Times New Roman" panose="02020603050405020304" pitchFamily="18" charset="0"/>
              </a:rPr>
              <a:t>report generation</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better decision-making </a:t>
            </a:r>
            <a:r>
              <a:rPr lang="en-US" sz="2800" dirty="0">
                <a:latin typeface="Times New Roman" panose="02020603050405020304" pitchFamily="18" charset="0"/>
                <a:cs typeface="Times New Roman" panose="02020603050405020304" pitchFamily="18" charset="0"/>
              </a:rPr>
              <a:t>for librarians. Overall, this project makes library management more </a:t>
            </a:r>
            <a:r>
              <a:rPr lang="en-US" sz="2800" b="1" dirty="0">
                <a:latin typeface="Times New Roman" panose="02020603050405020304" pitchFamily="18" charset="0"/>
                <a:cs typeface="Times New Roman" panose="02020603050405020304" pitchFamily="18" charset="0"/>
              </a:rPr>
              <a:t>organized, transparent</a:t>
            </a:r>
            <a:r>
              <a:rPr lang="en-US" sz="2800" dirty="0">
                <a:latin typeface="Times New Roman" panose="02020603050405020304" pitchFamily="18" charset="0"/>
                <a:cs typeface="Times New Roman" panose="02020603050405020304" pitchFamily="18" charset="0"/>
              </a:rPr>
              <a:t>, and efficient, improving both </a:t>
            </a:r>
            <a:r>
              <a:rPr lang="en-US" sz="2800" b="1" dirty="0">
                <a:latin typeface="Times New Roman" panose="02020603050405020304" pitchFamily="18" charset="0"/>
                <a:cs typeface="Times New Roman" panose="02020603050405020304" pitchFamily="18" charset="0"/>
              </a:rPr>
              <a:t>user experience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administrative control.</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375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D8680-F069-5FC5-9DD7-AEF2C4C9FD10}"/>
              </a:ext>
            </a:extLst>
          </p:cNvPr>
          <p:cNvSpPr>
            <a:spLocks noGrp="1"/>
          </p:cNvSpPr>
          <p:nvPr>
            <p:ph idx="1"/>
          </p:nvPr>
        </p:nvSpPr>
        <p:spPr>
          <a:xfrm>
            <a:off x="1817915" y="217715"/>
            <a:ext cx="10123714" cy="2416628"/>
          </a:xfrm>
        </p:spPr>
        <p:txBody>
          <a:bodyPr>
            <a:noAutofit/>
          </a:bodyPr>
          <a:lstStyle/>
          <a:p>
            <a:pPr marL="0" indent="0">
              <a:buNone/>
            </a:pPr>
            <a:endParaRPr lang="en-IN" sz="9600" b="1" dirty="0">
              <a:latin typeface="Times New Roman" panose="02020603050405020304" pitchFamily="18" charset="0"/>
              <a:cs typeface="Times New Roman" panose="02020603050405020304" pitchFamily="18" charset="0"/>
            </a:endParaRPr>
          </a:p>
          <a:p>
            <a:pPr marL="0" indent="0">
              <a:buNone/>
            </a:pPr>
            <a:r>
              <a:rPr lang="en-IN" sz="9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42821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446</TotalTime>
  <Words>690</Words>
  <Application>Microsoft Office PowerPoint</Application>
  <PresentationFormat>Widescreen</PresentationFormat>
  <Paragraphs>57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Times New Roman</vt:lpstr>
      <vt:lpstr>Wingdings 3</vt:lpstr>
      <vt:lpstr>Wisp</vt:lpstr>
      <vt:lpstr>PowerPoint Presentation</vt:lpstr>
      <vt:lpstr>PowerPoint Presentation</vt:lpstr>
      <vt:lpstr> The Library Management System is used to manage all library activities   in a digital way.  It helps to keep records of books, authors, publishers, and library members.  The system makes it easy to issue and return books.  It tracks the availability and number of copies of each book.  Borrowers can borrow and return books, and their details are stored in the      system.  It connects information about books, authors, publishers, and branches.  It helps librarians to quickly search, add, or update book and member information.  The system saves time, reduces manual work, and avoids record-keeping errors.  The main goal is to make library management simple, efficient, and organized.</vt:lpstr>
      <vt:lpstr>PowerPoint Presentation</vt:lpstr>
      <vt:lpstr>PowerPoint Presentation</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Venkatesh Annarapu</dc:creator>
  <cp:lastModifiedBy>iindrakaranreddy@gmail.com</cp:lastModifiedBy>
  <cp:revision>12</cp:revision>
  <dcterms:created xsi:type="dcterms:W3CDTF">2025-10-07T15:46:55Z</dcterms:created>
  <dcterms:modified xsi:type="dcterms:W3CDTF">2025-11-14T09:06:07Z</dcterms:modified>
</cp:coreProperties>
</file>